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411480" cy="507034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73152"/>
            <a:ext cx="54864" cy="50703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HomeGesture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Touchless Smart Home Control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Body Gesture Detection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2926080"/>
            <a:ext cx="548640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063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Flutter Mobile + Web Application integrating Google ML Kit and Home Assistant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749040"/>
            <a:ext cx="173736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7490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06040" y="3749040"/>
            <a:ext cx="1737360" cy="34747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37490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Closed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3749040"/>
            <a:ext cx="173736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37490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Tummy Rub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&amp; Technical Overview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366F1"/>
                </a:solidFill>
              </a:rPr>
              <a:t>OVERVIEW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</a:rPr>
              <a:t>2 / 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160520" cy="100584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5880"/>
            <a:ext cx="45720" cy="10058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4173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3990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context, research goals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514600"/>
            <a:ext cx="4160520" cy="100584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514600"/>
            <a:ext cx="45720" cy="10058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6060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25877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017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technology stack, platform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703320"/>
            <a:ext cx="4160520" cy="100584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703320"/>
            <a:ext cx="45720" cy="10058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3794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37764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Detection Engine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206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Kit, algorithms, frame pipeline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1325880"/>
            <a:ext cx="4160520" cy="100584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325880"/>
            <a:ext cx="45720" cy="10058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14173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32120" y="13990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 Integration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321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Assistant, lock control, automation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514600"/>
            <a:ext cx="4160520" cy="100584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2514600"/>
            <a:ext cx="45720" cy="10058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26060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532120" y="25877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Architecture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32120" y="3017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management, data models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3703320"/>
            <a:ext cx="4160520" cy="100584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3703320"/>
            <a:ext cx="45720" cy="10058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3794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532120" y="37764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Future Work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32120" y="4206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challenges,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366F1"/>
                </a:solidFill>
              </a:rPr>
              <a:t>01 · INTRODUCTION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</a:rPr>
              <a:t>3 / 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8321040" cy="749808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5880"/>
            <a:ext cx="45720" cy="7498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80744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Touch Barriers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673352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smart home interfaces require physical contact with panels, phones, or voice commands — impractical when hands are full, wet, or unavailable.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221992"/>
            <a:ext cx="8321040" cy="749808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221992"/>
            <a:ext cx="45720" cy="7498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76856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Gap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569464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with mobility impairments, caregivers holding infants, or people in sterile environments need touchless alternatives for home control.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118104"/>
            <a:ext cx="8321040" cy="749808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118104"/>
            <a:ext cx="45720" cy="7498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172968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Ubiquitous Camera Hardware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3465576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smartphones and tablets already carry front-facing cameras with sufficient resolution for real-time body pose estimation.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4014216"/>
            <a:ext cx="8321040" cy="749808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4014216"/>
            <a:ext cx="45720" cy="7498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06908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Maturity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4361688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ML Kit provides on-device pose and face detection with no cloud dependency, making gesture recognition feasible at consumer-grade hardware.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366F1"/>
                </a:solidFill>
              </a:rPr>
              <a:t>01 · INTRODUCTION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</a:rPr>
              <a:t>4 / 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502920" cy="5486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371600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 reliable gesture detection engine using Google ML Kit Pose and Face Detection APIs running entirely on-device.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502920" cy="5486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574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103120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 set of three distinct body gestures to meaningful smart home automation actions with configurable confidence thresholds.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788920"/>
            <a:ext cx="502920" cy="5486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7889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2834640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bidirectional WebSocket communication with a Home Assistant instance for real-time entity control and state synchronisation.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520440"/>
            <a:ext cx="502920" cy="5486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5204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3566160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cross-platform Flutter application supporting both native mobile (iOS/Android) and web deployment from a single codebase.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4251960"/>
            <a:ext cx="502920" cy="5486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251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51560" y="4297680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recognition accuracy, response latency, and user experience across varied lighting and body positioning conditions.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38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726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· Technology Stack · Multi-platform Deployment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36576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366F1"/>
                </a:solidFill>
              </a:rPr>
              <a:t>02 · SYSTEM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</a:rPr>
              <a:t>6 / 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137160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4173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20240" y="1417320"/>
            <a:ext cx="137160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20240" y="14173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29000" y="1417320"/>
            <a:ext cx="1371600" cy="822960"/>
          </a:xfrm>
          <a:prstGeom prst="rect">
            <a:avLst/>
          </a:prstGeom>
          <a:solidFill>
            <a:srgbClr val="4338CA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14173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37760" y="1417320"/>
            <a:ext cx="137160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4173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46520" y="1417320"/>
            <a:ext cx="137160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14173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10512" y="1828800"/>
            <a:ext cx="109728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19272" y="1828800"/>
            <a:ext cx="109728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28032" y="1828800"/>
            <a:ext cx="109728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36792" y="1828800"/>
            <a:ext cx="109728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" y="2880360"/>
            <a:ext cx="1600200" cy="7772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188720" y="28803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20440" y="2880360"/>
            <a:ext cx="1600200" cy="7772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520440" y="28803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852160" y="2880360"/>
            <a:ext cx="1600200" cy="777240"/>
          </a:xfrm>
          <a:prstGeom prst="rect">
            <a:avLst/>
          </a:prstGeom>
          <a:solidFill>
            <a:srgbClr val="4338C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852160" y="28803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Mgmt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23560" y="2240280"/>
            <a:ext cx="0" cy="640080"/>
          </a:xfrm>
          <a:prstGeom prst="line">
            <a:avLst/>
          </a:prstGeom>
          <a:noFill/>
          <a:ln w="10160">
            <a:solidFill>
              <a:srgbClr val="333333"/>
            </a:solidFill>
            <a:prstDash val="sysDash"/>
          </a:ln>
        </p:spPr>
      </p:sp>
      <p:sp>
        <p:nvSpPr>
          <p:cNvPr id="27" name="Shape 25"/>
          <p:cNvSpPr/>
          <p:nvPr/>
        </p:nvSpPr>
        <p:spPr>
          <a:xfrm>
            <a:off x="1984248" y="2240280"/>
            <a:ext cx="0" cy="640080"/>
          </a:xfrm>
          <a:prstGeom prst="line">
            <a:avLst/>
          </a:prstGeom>
          <a:noFill/>
          <a:ln w="10160">
            <a:solidFill>
              <a:srgbClr val="333333"/>
            </a:solidFill>
            <a:prstDash val="sysDash"/>
          </a:ln>
        </p:spPr>
      </p:sp>
      <p:sp>
        <p:nvSpPr>
          <p:cNvPr id="28" name="Shape 26"/>
          <p:cNvSpPr/>
          <p:nvPr/>
        </p:nvSpPr>
        <p:spPr>
          <a:xfrm>
            <a:off x="7086600" y="2240280"/>
            <a:ext cx="0" cy="640080"/>
          </a:xfrm>
          <a:prstGeom prst="line">
            <a:avLst/>
          </a:prstGeom>
          <a:noFill/>
          <a:ln w="10160">
            <a:solidFill>
              <a:srgbClr val="333333"/>
            </a:solidFill>
            <a:prstDash val="sysDash"/>
          </a:ln>
        </p:spPr>
      </p:sp>
      <p:sp>
        <p:nvSpPr>
          <p:cNvPr id="29" name="Text 27"/>
          <p:cNvSpPr/>
          <p:nvPr/>
        </p:nvSpPr>
        <p:spPr>
          <a:xfrm>
            <a:off x="411480" y="40690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lines indicate secondary data flows (state updates, notifications, provider re-renders)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366F1"/>
                </a:solidFill>
              </a:rPr>
              <a:t>02 · SYSTEM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</a:rPr>
              <a:t>7 / 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2651760" cy="160020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5880"/>
            <a:ext cx="45720" cy="1600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4356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3.x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12648" y="17830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12648" y="2002536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(iOS, Android, Web) from a single Dart codebase. Material 3 design system.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160020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325880"/>
            <a:ext cx="45720" cy="1600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7288" y="14356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ML Kit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47288" y="17830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ML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47288" y="2002536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PoseDetector (accurate model) + FaceDetector with eye-open probability classification. No cloud.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1325880"/>
            <a:ext cx="2651760" cy="160020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325880"/>
            <a:ext cx="45720" cy="1600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928" y="14356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Assistant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81928" y="17830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 HUB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81928" y="2002536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API + REST fallback. Manages locks, lights, and arbitrary entities via service calls.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108960"/>
            <a:ext cx="2651760" cy="160020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108960"/>
            <a:ext cx="45720" cy="16002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" y="32186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12648" y="35661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2648" y="3785616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ChangeNotifier pattern — AppProvider exposes gesture results, HA state, and settings reactively.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46120" y="3108960"/>
            <a:ext cx="2651760" cy="160020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3108960"/>
            <a:ext cx="45720" cy="160020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47288" y="32186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flutter_local_notifications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447288" y="35661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447288" y="3785616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for lock state changes, gesture detections, and connection status updates.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80760" y="3108960"/>
            <a:ext cx="2651760" cy="160020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3108960"/>
            <a:ext cx="45720" cy="16002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81928" y="32186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web_socket_channel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281928" y="35661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COMMS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81928" y="3785616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WebSocket connection to HA with heartbeat (30s ping/pong) and auto-reconnection.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366F1"/>
                </a:solidFill>
              </a:rPr>
              <a:t>02 · SYSTEM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Deployment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</a:rPr>
              <a:t>8 / 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023360" cy="347472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5880"/>
            <a:ext cx="4023360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2588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(iOS / Android)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" y="1892808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point: CameraScreen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1208" y="1956816"/>
            <a:ext cx="640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368296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Accesses physical camera hardware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1208" y="2432304"/>
            <a:ext cx="640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843784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Pose + Face gesture detection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1208" y="2907792"/>
            <a:ext cx="640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331927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notifications via flutter_local_notifications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1208" y="3383280"/>
            <a:ext cx="640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3794760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HA WebSocket connection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21208" y="3858768"/>
            <a:ext cx="640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4270248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channels for camera frames (YUV / BGRA8888)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21208" y="4334256"/>
            <a:ext cx="640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1325880"/>
            <a:ext cx="4023360" cy="347472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1325880"/>
            <a:ext cx="402336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8888" y="132588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10328" y="1892808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point: WebSmartHomeScreen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18888" y="1956816"/>
            <a:ext cx="64008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2368296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physical camera access (browser limitation)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18888" y="2432304"/>
            <a:ext cx="64008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0328" y="2843784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 dashboard: entity list, lock control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18888" y="2907792"/>
            <a:ext cx="64008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0328" y="331927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REST API + WebSocket to Home Assistant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18888" y="3383280"/>
            <a:ext cx="64008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3794760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 implementations for camera/gesture services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18888" y="3858768"/>
            <a:ext cx="64008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0328" y="4270248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 via kIsWeb conditional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18888" y="4334256"/>
            <a:ext cx="64008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8463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platforms share a single Dart codebase (lib/). Platform-conditional logic uses kIsWeb to switch entry points and stub camera/gesture services on web.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433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Detection Engine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944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· Frame Pipeline · Wave · Eyes-Closed · Tummy Rub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401568"/>
            <a:ext cx="365760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366F1"/>
                </a:solidFill>
              </a:rPr>
              <a:t>03 · GESTURE DETECTION ENGINE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Detection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</a:rPr>
              <a:t>10 / 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2651760" cy="150876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5880"/>
            <a:ext cx="26517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258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Capture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CameraController streams CameraImage frames at 30 fps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150876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3258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17830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Sampling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37560" y="21488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3rd frame processed to reduce CPU load (~10 fps effective)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1325880"/>
            <a:ext cx="2651760" cy="150876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325880"/>
            <a:ext cx="2651760" cy="38404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3258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17830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Conversion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172200" y="21488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 / BGRA8888 → InputImage with rotation metadata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063240"/>
            <a:ext cx="2651760" cy="150876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063240"/>
            <a:ext cx="2651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0632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520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Detection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38862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Future.wait() runs PoseDetector &amp; FaceDetector concurrently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46120" y="3063240"/>
            <a:ext cx="2651760" cy="150876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3063240"/>
            <a:ext cx="2651760" cy="38404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30632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37560" y="3520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Classification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337560" y="38862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geometry → GestureType with confidence score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80760" y="3063240"/>
            <a:ext cx="2651760" cy="150876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3063240"/>
            <a:ext cx="265176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30632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72200" y="3520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 &amp; Emit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172200" y="38862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consecutive detections required; 2 s cooldown per gesture type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366F1"/>
                </a:solidFill>
              </a:rPr>
              <a:t>03 · GESTURE DETECTION ENGINE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ML Kit: Pose Detection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</a:rPr>
              <a:t>11 / 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206240" cy="749808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5880"/>
            <a:ext cx="45720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9903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162763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PoseDetectionModel.accurate — higher latency but full 33-landmark body model suitable for upper-body gesture work.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212848"/>
            <a:ext cx="4206240" cy="749808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212848"/>
            <a:ext cx="45720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8600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25146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PoseDetectionMode.stream — optimised for continuous video frames; reuses prior frame context for smoothing.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099816"/>
            <a:ext cx="4206240" cy="749808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099816"/>
            <a:ext cx="45720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17296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Landmarks Used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34015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leftWrist, rightWrist, leftShoulder, rightShoulder, leftHip, rightHip — 6 of 33 total landmarks.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986784"/>
            <a:ext cx="4206240" cy="749808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986784"/>
            <a:ext cx="45720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059936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Threshold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85800" y="428853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visibility across all landmarks must exceed 0.5 (minPoseConfidence) before gesture logic runs.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1325880"/>
            <a:ext cx="3840480" cy="352044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92040" y="13258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Landmarks (33 total)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1874520"/>
            <a:ext cx="411480" cy="411480"/>
          </a:xfrm>
          <a:prstGeom prst="ellipse">
            <a:avLst/>
          </a:prstGeom>
          <a:solidFill>
            <a:srgbClr val="B0B0B0"/>
          </a:solidFill>
          <a:ln w="12700">
            <a:solidFill>
              <a:srgbClr val="B0B0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06540" y="2286000"/>
            <a:ext cx="0" cy="777240"/>
          </a:xfrm>
          <a:prstGeom prst="line">
            <a:avLst/>
          </a:prstGeom>
          <a:noFill/>
          <a:ln w="25400">
            <a:solidFill>
              <a:srgbClr val="B0B0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2395728"/>
            <a:ext cx="1051560" cy="0"/>
          </a:xfrm>
          <a:prstGeom prst="line">
            <a:avLst/>
          </a:prstGeom>
          <a:noFill/>
          <a:ln w="25400">
            <a:solidFill>
              <a:srgbClr val="B0B0B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80760" y="2395728"/>
            <a:ext cx="-274320" cy="54864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0" y="2395728"/>
            <a:ext cx="274320" cy="54864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3063240"/>
            <a:ext cx="685800" cy="0"/>
          </a:xfrm>
          <a:prstGeom prst="line">
            <a:avLst/>
          </a:prstGeom>
          <a:noFill/>
          <a:ln w="25400">
            <a:solidFill>
              <a:srgbClr val="B0B0B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3063240"/>
            <a:ext cx="-182880" cy="685800"/>
          </a:xfrm>
          <a:prstGeom prst="line">
            <a:avLst/>
          </a:prstGeom>
          <a:noFill/>
          <a:ln w="19050">
            <a:solidFill>
              <a:srgbClr val="B0B0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49440" y="3063240"/>
            <a:ext cx="182880" cy="685800"/>
          </a:xfrm>
          <a:prstGeom prst="line">
            <a:avLst/>
          </a:prstGeom>
          <a:noFill/>
          <a:ln w="19050">
            <a:solidFill>
              <a:srgbClr val="B0B0B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83480" y="2331720"/>
            <a:ext cx="1325880" cy="274320"/>
          </a:xfrm>
          <a:prstGeom prst="rect">
            <a:avLst/>
          </a:prstGeom>
          <a:solidFill>
            <a:srgbClr val="4338CA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 (L/R)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83480" y="2788920"/>
            <a:ext cx="1325880" cy="274320"/>
          </a:xfrm>
          <a:prstGeom prst="rect">
            <a:avLst/>
          </a:prstGeom>
          <a:solidFill>
            <a:srgbClr val="4338CA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2788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(L/R)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983480" y="2999232"/>
            <a:ext cx="1325880" cy="274320"/>
          </a:xfrm>
          <a:prstGeom prst="rect">
            <a:avLst/>
          </a:prstGeom>
          <a:solidFill>
            <a:srgbClr val="4338CA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29992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 (L/R)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0" y="45720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Used landmarks highlighted in blue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366F1"/>
                </a:solidFill>
              </a:rPr>
              <a:t>03 · GESTURE DETECTION ENGINE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ML Kit: Face Detection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</a:rPr>
              <a:t>12 / 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8321040" cy="62179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5880"/>
            <a:ext cx="45720" cy="6217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89888"/>
            <a:ext cx="7818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618488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FaceDetectorOptions with enableClassification: true and FaceDetectorMode.accurate. Classification enables eye-open probability scoring.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075688"/>
            <a:ext cx="8321040" cy="62179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075688"/>
            <a:ext cx="45720" cy="6217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139696"/>
            <a:ext cx="7818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Eye-Open Probability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368296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Per-eye float value in [0.0, 1.0] via face.leftEyeOpenProbability and face.rightEyeOpenProbability. Average of both used.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825496"/>
            <a:ext cx="8321040" cy="62179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825496"/>
            <a:ext cx="45720" cy="6217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889504"/>
            <a:ext cx="7818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Eye Threshold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3118104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considered 'closed' when average probability &lt; 0.5. Confidence reported as (1.0 − avgEyeOpen).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575304"/>
            <a:ext cx="8321040" cy="62179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575304"/>
            <a:ext cx="45720" cy="6217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639312"/>
            <a:ext cx="7818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Requirement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3867912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must remain closed for ≥ 10 continuous seconds before the eyesClosed gesture fires. Timer resets on any eye-open frame.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440740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Face detection runs in parallel with pose detection via Future.wait(). The face gesture (eyesClosed) takes priority over pose gestures when both fire on the same frame.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366F1"/>
                </a:solidFill>
              </a:rPr>
              <a:t>03 · GESTURE DETECTION ENGINE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Frame Processing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</a:rPr>
              <a:t>13 / 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663440" cy="749808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5880"/>
            <a:ext cx="45720" cy="7498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9903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Decimation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165506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every 3rd frame is processed (_frameCount % 3 != 0 → return). At 30 fps camera this yields ~10 detection cycles per second.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212848"/>
            <a:ext cx="4663440" cy="749808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212848"/>
            <a:ext cx="45720" cy="7498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8600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Handling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254203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sends NV21 (YUV). iOS sends BGRA8888. Both are single-plane reads. Multi-plane formats concatenate planes via _concatenatePlanes().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099816"/>
            <a:ext cx="4663440" cy="749808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099816"/>
            <a:ext cx="45720" cy="7498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17296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Metadata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342900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InputImageMetadata constructed with camera sensor orientation (typically 90°) and frame dimensions for correct landmark coordinate mapping.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986784"/>
            <a:ext cx="4663440" cy="749808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986784"/>
            <a:ext cx="45720" cy="7498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059936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Isolation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85800" y="431596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detector (_processFaceFrame, _processPoseFrame) runs in its own try/catch. An ML error on one does not abort the other.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49240" y="1325880"/>
            <a:ext cx="3383280" cy="352044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40680" y="1389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pipeline (pseudo-code)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40680" y="1737360"/>
            <a:ext cx="32004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_processFrame(CameraImage img)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_frameCount++;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(_frameCount % 3 != 0) return;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input = _convert(img);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(input == null) return;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[face, pose] = await Future.wait([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_processFaceFrame(input),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_processPoseFrame(input),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result = face ?? pose;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(result?.confidence &gt;= threshold)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_handleDetectedGesture(result!);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366F1"/>
                </a:solidFill>
              </a:rPr>
              <a:t>03 · GESTURE DETECTION ENGINE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Gesture: Algorithm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</a:rPr>
              <a:t>14 / 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137160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20240" y="1371600"/>
            <a:ext cx="681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hand above shoulder · oscillate horizontally → Toggle music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1965960"/>
            <a:ext cx="384048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65960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98424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Active Wrist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2194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Whichever wrist (left/right) has higher likelihood score is chosen as the active landmark for the frame.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551176"/>
            <a:ext cx="384048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51176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56946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Check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27797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activeWrist.y must be above referenceShoulder.y − 0.05 in normalised coordinates (y increases downward).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136392"/>
            <a:ext cx="384048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136392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15468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Buffer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" y="33649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activeWrist.x appended to a rolling buffer of 10 positions (_wristPositions). Buffer cleared if wrist drops below shoulder.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721608"/>
            <a:ext cx="384048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721608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373989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Computation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14400" y="39502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= max(buffer) − min(buffer). Wave fires if range ≥ 0.15 (normalised frame width), indicating oscillation.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4306824"/>
            <a:ext cx="384048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306824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432511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4400" y="45354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= wristLikelihood × clamp(range / threshold, 0, 1). Reflects both detection quality and gesture magnitude.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89320" y="1920240"/>
            <a:ext cx="2743200" cy="283464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080760" y="19842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80760" y="23957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_wavingHistoryLength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0" y="239572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frames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080760" y="28529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_wavingThreshold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72400" y="285292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 (norm.)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080760" y="33101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debounceMs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0" y="331012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2 000 ms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080760" y="37673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minGestureConfidence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72400" y="376732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080760" y="42245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_minPoseConfidence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72400" y="422452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366F1"/>
                </a:solidFill>
              </a:rPr>
              <a:t>03 · GESTURE DETECTION ENGINE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Eyes-Closed Gesture: Algorithm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</a:rPr>
              <a:t>15 / 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1645920" cy="4572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CLOSED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94560" y="1371600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both eyes for 10 continuous seconds → Turn off main light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148840"/>
            <a:ext cx="1463040" cy="777240"/>
          </a:xfrm>
          <a:prstGeom prst="rect">
            <a:avLst/>
          </a:prstGeom>
          <a:solidFill>
            <a:srgbClr val="333333"/>
          </a:solidFill>
          <a:ln w="1016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1488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40280" y="2148840"/>
            <a:ext cx="1463040" cy="777240"/>
          </a:xfrm>
          <a:prstGeom prst="rect">
            <a:avLst/>
          </a:prstGeom>
          <a:solidFill>
            <a:srgbClr val="1E1E1E"/>
          </a:solidFill>
          <a:ln w="1016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40280" y="21488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69080" y="2148840"/>
            <a:ext cx="1463040" cy="777240"/>
          </a:xfrm>
          <a:prstGeom prst="rect">
            <a:avLst/>
          </a:prstGeom>
          <a:solidFill>
            <a:srgbClr val="FBBF24"/>
          </a:solidFill>
          <a:ln w="1016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69080" y="21488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(timing)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2148840"/>
            <a:ext cx="1463040" cy="777240"/>
          </a:xfrm>
          <a:prstGeom prst="rect">
            <a:avLst/>
          </a:prstGeom>
          <a:solidFill>
            <a:srgbClr val="10B981"/>
          </a:solidFill>
          <a:ln w="1016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80760" y="21488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74520" y="2532888"/>
            <a:ext cx="36576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22768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found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703320" y="2532888"/>
            <a:ext cx="36576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22768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&lt; 0.5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715000" y="2532888"/>
            <a:ext cx="36576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22768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 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1480" y="3246120"/>
            <a:ext cx="4160520" cy="658368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246120"/>
            <a:ext cx="45720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3009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Start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" y="3520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_eyesClosedStartTime set on first closed-eye frame via null-coalescing. Only set once — not reset until eyes open.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3246120"/>
            <a:ext cx="4160520" cy="658368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246120"/>
            <a:ext cx="45720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3009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Reset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0" y="3520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frame with avgEyeOpen ≥ 0.5 clears the timer. Full 10 s required again from scratch.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1480" y="4023360"/>
            <a:ext cx="4160520" cy="658368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11480" y="4023360"/>
            <a:ext cx="45720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0782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" y="4297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as (1.0 − avgEyeOpen). Very closed eyes (p ≈ 0.05) gives confidence ~0.95, above the 0.60 threshold.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4023360"/>
            <a:ext cx="4160520" cy="658368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4023360"/>
            <a:ext cx="45720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40782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0" y="4297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gestures evaluated first. If eyesClosed fires, the pose result is discarded for that frame.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366F1"/>
                </a:solidFill>
              </a:rPr>
              <a:t>03 · GESTURE DETECTION ENGINE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Tummy Rub Gesture: Algorithm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</a:rPr>
              <a:t>16 / 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164592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TUMMY RUB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94560" y="1371600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hand in abdomen zone (between shoulders and hips) → Toggle kitchen light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1965960"/>
            <a:ext cx="4754880" cy="62179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965960"/>
            <a:ext cx="45720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029968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Abdomen Zone Definition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231136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boundary: midpoint y of (leftShoulder, rightShoulder) + 0.05. Bottom: midpoint y of (leftHip, rightHip). Horizontal: within ±0.25 of hip centre x.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715768"/>
            <a:ext cx="4754880" cy="62179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715768"/>
            <a:ext cx="45720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779776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In-Zone Test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298094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wrist: wrist.y &gt; abdomenTop AND wrist.y &lt; abdomenBottom AND |wrist.x − abdomenCenterX| &lt; 0.25. Either wrist qualifies.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465576"/>
            <a:ext cx="4754880" cy="62179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465576"/>
            <a:ext cx="45720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529584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Source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3075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= likelihood of the qualifying wrist. No additional weighting — position geometry determines detection, not velocity.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4215384"/>
            <a:ext cx="4754880" cy="62179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4215384"/>
            <a:ext cx="45720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27939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History Required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448056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Wave, Tummy Rub is a static position gesture. No oscillation history is maintained; it fires on each frame while in position (subject to debounce).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40680" y="1920240"/>
            <a:ext cx="3291840" cy="297180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532120" y="1993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Abdomen Zone (normalised Y)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629400" y="2395728"/>
            <a:ext cx="347472" cy="347472"/>
          </a:xfrm>
          <a:prstGeom prst="ellipse">
            <a:avLst/>
          </a:prstGeom>
          <a:solidFill>
            <a:srgbClr val="B0B0B0"/>
          </a:solidFill>
          <a:ln w="12700">
            <a:solidFill>
              <a:srgbClr val="B0B0B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03136" y="2743200"/>
            <a:ext cx="0" cy="1920240"/>
          </a:xfrm>
          <a:prstGeom prst="line">
            <a:avLst/>
          </a:prstGeom>
          <a:noFill/>
          <a:ln w="25400">
            <a:solidFill>
              <a:srgbClr val="B0B0B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2852928"/>
            <a:ext cx="804672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27889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Shoulders (top)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309360" y="3154680"/>
            <a:ext cx="1005840" cy="1005840"/>
          </a:xfrm>
          <a:prstGeom prst="rect">
            <a:avLst/>
          </a:prstGeom>
          <a:solidFill>
            <a:srgbClr val="10B981">
              <a:alpha val="3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91072" y="3246120"/>
            <a:ext cx="1042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Abdomen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0" y="4160520"/>
            <a:ext cx="804672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409651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Hips (bottom)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366F1"/>
                </a:solidFill>
              </a:rPr>
              <a:t>03 · GESTURE DETECTION ENGINE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 &amp; Debounce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</a:rPr>
              <a:t>17 / 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2670048" cy="192024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5880"/>
            <a:ext cx="2670048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2588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Quality Tiers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" y="18288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≥ 0.90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21208" y="21671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≥ 0.75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21208" y="250545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≥ 0.50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1208" y="28437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&lt; 0.50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64408" y="1325880"/>
            <a:ext cx="2670048" cy="192024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1325880"/>
            <a:ext cx="2670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32588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Confirmation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74136" y="18288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 consecutive detections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74136" y="21671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same GestureType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74136" y="250545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before emitting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74136" y="28437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gesture stream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17336" y="1325880"/>
            <a:ext cx="2670048" cy="192024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17336" y="1325880"/>
            <a:ext cx="2670048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08776" y="132588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 Cooldown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27064" y="18288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2 000 ms cooldown after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27064" y="21671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emitted gesture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27064" y="250545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Same-type repeats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27064" y="28437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discarded within window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1480" y="3520440"/>
            <a:ext cx="8321040" cy="137160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5844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Emission Logic (_handleDetectedGesture)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" y="3913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Incoming GestureResult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40873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Same type + within debounce window?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97880" y="408736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Discard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426110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Same type as last?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97880" y="426110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_consecutiveGestures++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" y="44348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_consecutiveGestures ≥ 2?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97880" y="443484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Emit to stream, reset counter, update timestamp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4360" y="460857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Different type?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97880" y="460857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Reset counter, update _lastGestureType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C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 Integration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944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Assistant · WebSocket · Lock Control · Gesture Automation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401568"/>
            <a:ext cx="365760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366F1"/>
                </a:solidFill>
              </a:rPr>
              <a:t>04 · SMART HOME INTEGRATION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Assistant Integration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</a:rPr>
              <a:t>19 / 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160520" cy="107899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5880"/>
            <a:ext cx="45720" cy="10789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17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17099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to wss://host:8123/api/websocket. URL normalised — protocol injected if absent, trailing slash stripped.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560320"/>
            <a:ext cx="4160520" cy="107899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560320"/>
            <a:ext cx="45720" cy="10789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6517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294436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Long-lived access token sent as {type:'auth', access_token:…} immediately after server sends auth_required.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794760"/>
            <a:ext cx="4160520" cy="107899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794760"/>
            <a:ext cx="45720" cy="10789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886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Subscriptions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41788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subscribe_events on state_changed fires for every entity update. Cached in _cachedEntities map.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1325880"/>
            <a:ext cx="4160520" cy="107899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325880"/>
            <a:ext cx="45720" cy="10789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417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Calls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0" y="17099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call_service messages with domain, service, and service_data. Used for lock/unlock and future light/media calls.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560320"/>
            <a:ext cx="4160520" cy="107899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560320"/>
            <a:ext cx="45720" cy="10789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6517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0" y="294436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message every 30 s keeps the WebSocket alive through NAT/firewall idle timeouts.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794760"/>
            <a:ext cx="4160520" cy="107899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794760"/>
            <a:ext cx="45720" cy="10789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886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Auto-Reconnect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0" y="41788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disconnect, schedules a reconnect attempt after 5 s (haReconnectDelay). Repeats until connected.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366F1"/>
                </a:solidFill>
              </a:rPr>
              <a:t>04 · SMART HOME INTEGRATION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Protocol Sequence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</a:rPr>
              <a:t>20 / 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146304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(Flutter)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0" y="1298448"/>
            <a:ext cx="146304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2984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Assistant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88720" y="1682496"/>
            <a:ext cx="0" cy="3246120"/>
          </a:xfrm>
          <a:prstGeom prst="line">
            <a:avLst/>
          </a:prstGeom>
          <a:noFill/>
          <a:ln w="12700">
            <a:solidFill>
              <a:srgbClr val="6366F1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7132320" y="1682496"/>
            <a:ext cx="0" cy="3246120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188720" y="1920240"/>
            <a:ext cx="5870448" cy="0"/>
          </a:xfrm>
          <a:prstGeom prst="line">
            <a:avLst/>
          </a:prstGeom>
          <a:noFill/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17007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connect()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261872" y="2331720"/>
            <a:ext cx="5870448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0" y="211226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{type:'auth_required'}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188720" y="2743200"/>
            <a:ext cx="5870448" cy="0"/>
          </a:xfrm>
          <a:prstGeom prst="line">
            <a:avLst/>
          </a:prstGeom>
          <a:noFill/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252374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{type:'auth', access_token:…}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261872" y="3154680"/>
            <a:ext cx="5870448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0" y="293522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{type:'auth_ok'}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188720" y="3566160"/>
            <a:ext cx="5870448" cy="0"/>
          </a:xfrm>
          <a:prstGeom prst="line">
            <a:avLst/>
          </a:prstGeom>
          <a:noFill/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0" y="334670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{type:'subscribe_events', event_type:'state_changed'}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188720" y="3977640"/>
            <a:ext cx="5870448" cy="0"/>
          </a:xfrm>
          <a:prstGeom prst="line">
            <a:avLst/>
          </a:prstGeom>
          <a:noFill/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45920" y="37581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{type:'get_states'}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261872" y="4389120"/>
            <a:ext cx="5870448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0" y="416966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{type:'result', result:[…entities…]}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261872" y="4800600"/>
            <a:ext cx="5870448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0" y="458114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{type:'event', event:{state_changed}}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366F1"/>
                </a:solidFill>
              </a:rPr>
              <a:t>04 · SMART HOME INTEGRATION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Lock Controller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</a:rPr>
              <a:t>21 / 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297680" cy="352044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State Machine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" y="1965960"/>
            <a:ext cx="1234440" cy="47548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196596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2743200"/>
            <a:ext cx="1234440" cy="475488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23160" y="274320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5840" y="3520440"/>
            <a:ext cx="1234440" cy="47548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352044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JAMMED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23160" y="4297680"/>
            <a:ext cx="1234440" cy="475488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23160" y="429768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40280" y="2203704"/>
            <a:ext cx="182880" cy="539496"/>
          </a:xfrm>
          <a:prstGeom prst="line">
            <a:avLst/>
          </a:prstGeom>
          <a:noFill/>
          <a:ln w="12700">
            <a:solidFill>
              <a:srgbClr val="757575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240280" y="2980944"/>
            <a:ext cx="182880" cy="539496"/>
          </a:xfrm>
          <a:prstGeom prst="line">
            <a:avLst/>
          </a:prstGeom>
          <a:noFill/>
          <a:ln w="12700">
            <a:solidFill>
              <a:srgbClr val="757575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66928" y="416052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state_changed event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83480" y="1325880"/>
            <a:ext cx="3749040" cy="749808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83480" y="1325880"/>
            <a:ext cx="45720" cy="74980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1399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Selection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257800" y="162763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setSelectedLock(entityId) filters HA entity list to domain=='lock' and binds the controller.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83480" y="2212848"/>
            <a:ext cx="3749040" cy="749808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83480" y="2212848"/>
            <a:ext cx="45720" cy="74980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228600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lock() / unlock()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257800" y="25146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call_service to HA; optimistically updates local state before confirmation arrives.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83480" y="3099816"/>
            <a:ext cx="3749040" cy="749808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83480" y="3099816"/>
            <a:ext cx="45720" cy="74980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317296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Mode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257800" y="34015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startMonitoring() / stopMonitoring() toggle active observation, emitting LockEvents on the eventStream.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983480" y="3986784"/>
            <a:ext cx="3749040" cy="749808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83480" y="3986784"/>
            <a:ext cx="45720" cy="74980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405993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Refresh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257800" y="428853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refreshState() uses the HTTP REST API (GET /api/states/{entity_id}) as a fallback when WebSocket state may be stale.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366F1"/>
                </a:solidFill>
              </a:rPr>
              <a:t>04 · SMART HOME INTEGRATION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Gesture-to-Action Mapping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</a:rPr>
              <a:t>22 / 28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8321040" cy="3474720"/>
        </p:xfrm>
        <a:graphic>
          <a:graphicData uri="http://schemas.openxmlformats.org/drawingml/2006/table">
            <a:tbl>
              <a:tblPr/>
              <a:tblGrid>
                <a:gridCol w="1280160"/>
                <a:gridCol w="2011680"/>
                <a:gridCol w="1280160"/>
                <a:gridCol w="1554480"/>
                <a:gridCol w="12344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Gesture</a:t>
                      </a:r>
                      <a:endParaRPr lang="en-US" sz="12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Trigger Condition</a:t>
                      </a:r>
                      <a:endParaRPr lang="en-US" sz="12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Device Affected</a:t>
                      </a:r>
                      <a:endParaRPr lang="en-US" sz="12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2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Colour Code</a:t>
                      </a:r>
                      <a:endParaRPr lang="en-US" sz="12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Wave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</a:rPr>
                        <a:t>Wrist above shoulder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</a:rPr>
                        <a:t>+ horiz. oscillation ≥ 0.15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</a:rPr>
                        <a:t>Music Player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0E0E0"/>
                          </a:solidFill>
                        </a:rPr>
                        <a:t>Toggle Play / Stop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</a:rPr>
                        <a:t>#3B82F6  Blue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121"/>
                          </a:solidFill>
                        </a:rPr>
                        <a:t>Eyes Closed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</a:rPr>
                        <a:t>Both eyes closed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</a:rPr>
                        <a:t>for ≥ 10 continuous seconds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</a:rPr>
                        <a:t>Main Light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0E0E0"/>
                          </a:solidFill>
                        </a:rPr>
                        <a:t>Turn Off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BBF24"/>
                          </a:solidFill>
                        </a:rPr>
                        <a:t>#FBBF24  Amber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Tummy Rub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</a:rPr>
                        <a:t>Hand positioned in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</a:rPr>
                        <a:t>abdomen zone (static)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</a:rPr>
                        <a:t>Kitchen Light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0E0E0"/>
                          </a:solidFill>
                        </a:rPr>
                        <a:t>Toggle On / Off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#10B981  Green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482803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Device states are stored in a static HomeDeviceState singleton (SimpleAutomation.devices). Automation is decoupled from the HA service.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366F1"/>
                </a:solidFill>
              </a:rPr>
              <a:t>04 · SMART HOME INTEGRATION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</a:rPr>
              <a:t>23 / 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8321040" cy="749808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5880"/>
            <a:ext cx="777240" cy="749808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25880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25880" y="1399032"/>
            <a:ext cx="7132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Left Unlocked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25880" y="16916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Ongoing, high-priority Android notification with 'Mark as Secured' and 'Snooze' action buttons. Persistent until dismissed.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212848"/>
            <a:ext cx="8321040" cy="749808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212848"/>
            <a:ext cx="777240" cy="74980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212848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25880" y="2286000"/>
            <a:ext cx="7132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State Changed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325880" y="25786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Standard-importance notification on each lock/unlock/jam event. Shown on every lock, unlock, or jam state transition.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099816"/>
            <a:ext cx="8321040" cy="749808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099816"/>
            <a:ext cx="777240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099816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25880" y="3172968"/>
            <a:ext cx="7132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Detected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325880" y="346557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Low-importance debug channel — used during development/testing to confirm gesture recognition without opening the app.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986784"/>
            <a:ext cx="8321040" cy="749808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986784"/>
            <a:ext cx="777240" cy="7498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986784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25880" y="4059936"/>
            <a:ext cx="7132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Status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325880" y="435254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Low-importance channel notifies user of HA connect/disconnect events — relevant after network changes or server restarts.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48920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pattern: NotificationService._instance ensures a single plugin registration. Timezone-aware scheduling via flutter_local_notifications + timezone package.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4A2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Architecture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944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 · Data Models · Logging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401568"/>
            <a:ext cx="3657600" cy="0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366F1"/>
                </a:solidFill>
              </a:rPr>
              <a:t>05 · APPLICATION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 with Provider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</a:rPr>
              <a:t>25 / 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154680" y="1325880"/>
            <a:ext cx="2834640" cy="731520"/>
          </a:xfrm>
          <a:prstGeom prst="rect">
            <a:avLst/>
          </a:prstGeom>
          <a:solidFill>
            <a:srgbClr val="4338CA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154680" y="13258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AppProvider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154680" y="15727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(ChangeNotifier)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606040"/>
            <a:ext cx="2651760" cy="86868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606040"/>
            <a:ext cx="45720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6791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GestureDetector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29900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gestureStream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54680" y="2606040"/>
            <a:ext cx="2651760" cy="86868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2606040"/>
            <a:ext cx="45720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26791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HomeAssistantService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29000" y="29900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stateStream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entityUpdateStream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2606040"/>
            <a:ext cx="2651760" cy="86868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2606040"/>
            <a:ext cx="45720" cy="8686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6791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LockController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09360" y="29900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stateStream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eventStream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3977640"/>
            <a:ext cx="2651760" cy="86868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977640"/>
            <a:ext cx="45720" cy="86868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0507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NotificationService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5800" y="43616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— called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gesture events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54680" y="3977640"/>
            <a:ext cx="2651760" cy="86868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3977640"/>
            <a:ext cx="45720" cy="8686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40507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UserSettings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29000" y="43616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haUrl, haToken,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selectedLockEntity…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3977640"/>
            <a:ext cx="2651760" cy="86868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3977640"/>
            <a:ext cx="45720" cy="868680"/>
          </a:xfrm>
          <a:prstGeom prst="rect">
            <a:avLst/>
          </a:prstGeom>
          <a:solidFill>
            <a:srgbClr val="757575"/>
          </a:solidFill>
          <a:ln w="12700">
            <a:solidFill>
              <a:srgbClr val="7575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40507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ActivityLog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09360" y="43616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event log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research / replay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0" y="2057400"/>
            <a:ext cx="0" cy="548640"/>
          </a:xfrm>
          <a:prstGeom prst="line">
            <a:avLst/>
          </a:prstGeom>
          <a:noFill/>
          <a:ln w="10160">
            <a:solidFill>
              <a:srgbClr val="333333"/>
            </a:solidFill>
            <a:prstDash val="sysDash"/>
          </a:ln>
        </p:spPr>
      </p:sp>
      <p:sp>
        <p:nvSpPr>
          <p:cNvPr id="34" name="Shape 32"/>
          <p:cNvSpPr/>
          <p:nvPr/>
        </p:nvSpPr>
        <p:spPr>
          <a:xfrm>
            <a:off x="1737360" y="2057400"/>
            <a:ext cx="2834640" cy="548640"/>
          </a:xfrm>
          <a:prstGeom prst="line">
            <a:avLst/>
          </a:prstGeom>
          <a:noFill/>
          <a:ln w="10160">
            <a:solidFill>
              <a:srgbClr val="333333"/>
            </a:solidFill>
            <a:prstDash val="sysDash"/>
          </a:ln>
        </p:spPr>
      </p:sp>
      <p:sp>
        <p:nvSpPr>
          <p:cNvPr id="35" name="Shape 33"/>
          <p:cNvSpPr/>
          <p:nvPr/>
        </p:nvSpPr>
        <p:spPr>
          <a:xfrm>
            <a:off x="4572000" y="2057400"/>
            <a:ext cx="2834640" cy="548640"/>
          </a:xfrm>
          <a:prstGeom prst="line">
            <a:avLst/>
          </a:prstGeom>
          <a:noFill/>
          <a:ln w="10160">
            <a:solidFill>
              <a:srgbClr val="333333"/>
            </a:solidFill>
            <a:prstDash val="sysDash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366F1"/>
                </a:solidFill>
              </a:rPr>
              <a:t>05 · APPLICATION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</a:rPr>
              <a:t>26 / 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2670048" cy="192024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5880"/>
            <a:ext cx="2670048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2588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GestureResult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21208" y="17830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GestureType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1208" y="20756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confidence: double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1208" y="23682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timestamp: DateTime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1208" y="26609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landmarkPositions: Map&lt;String,double&gt;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1208" y="29535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quality: DetectionQuality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64408" y="1325880"/>
            <a:ext cx="2670048" cy="192024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64408" y="1325880"/>
            <a:ext cx="2670048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132588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HaEntity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74136" y="17830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entityId: String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74136" y="20756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domain: String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74136" y="23682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state: String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74136" y="26609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attributes: Map?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74136" y="29535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lockState → LockState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17336" y="1325880"/>
            <a:ext cx="2670048" cy="192024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17336" y="1325880"/>
            <a:ext cx="2670048" cy="36576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08776" y="132588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27064" y="17830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type: AlertType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27064" y="20756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title, message: String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27064" y="23682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timestamp: DateTime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27064" y="26609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acknowledged: bool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27064" y="29535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dismissed: bool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3474720"/>
            <a:ext cx="3200400" cy="192024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1480" y="3474720"/>
            <a:ext cx="3200400" cy="3657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ActivityLog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21208" y="3931920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eventType: ActivityEventType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1208" y="4224528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String?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1208" y="45171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confidence: double?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1208" y="4809744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isUserAction: bool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1208" y="510235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 Map?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886200" y="3474720"/>
            <a:ext cx="3200400" cy="192024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886200" y="3474720"/>
            <a:ext cx="3200400" cy="365760"/>
          </a:xfrm>
          <a:prstGeom prst="rect">
            <a:avLst/>
          </a:prstGeom>
          <a:solidFill>
            <a:srgbClr val="757575"/>
          </a:solidFill>
          <a:ln w="12700">
            <a:solidFill>
              <a:srgbClr val="75757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7764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UserSettings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995928" y="3931920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haUrl, haToken: String?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995928" y="4224528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selectedLockEntity: String?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995928" y="45171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sensitivity: int (0–100)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995928" y="4809744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monitoringEnabled: bool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995928" y="510235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alertTimeout: int (s)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366F1"/>
                </a:solidFill>
              </a:rPr>
              <a:t>06 · EVALUATION &amp; FUTURE WORK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Research Directions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</a:rPr>
              <a:t>27 / 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160520" cy="352044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5880"/>
            <a:ext cx="4160520" cy="41148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258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Current Limitations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8470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Lighting sensitivity — ML Kit pose accuracy degrades in low-light or backlit environments.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2768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Static gestures only — Tummy Rub requires no motion, reducing distinguishability in natural movement.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7066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Single-user assumption — No multi-user differentiation; any person in frame can trigger automation.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31363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Eyes-Closed latency — 10-second delay is intentional but may frustrate users seeking rapid control.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3566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Web platform — Camera-based detection not available on web; dashboard only.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9959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Gesture set limited to 3 — Current vocabulary is small; more gestures risk false positives.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44256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No user calibration — Fixed thresholds may not suit all body types and camera angles.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1325880"/>
            <a:ext cx="3977640" cy="352044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325880"/>
            <a:ext cx="397764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3258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Future Research Directions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1847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Custom gesture vocabulary — User-defined gesture training via on-device transfer learning.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0" y="22768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Hand landmark integration — MediaPipe Hands for fine finger-level gesture recognition.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27066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Multi-user identity — Face recognition to map gestures to individual user profiles and permissions.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37760" y="3136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Adaptive thresholds — Calibration wizard that tunes waving range and confidence per user.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3776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Expanded HA entity types — Lights (brightness), thermostats, media players beyond music toggle.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3995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Offline mode — Local fallback when HA is unreachable using cached entity states.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37760" y="44256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Formal usability evaluation — Controlled study measuring task completion time and error rates.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411480" cy="507034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73152"/>
            <a:ext cx="54864" cy="50703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943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548640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630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Gesture Recognition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171907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ML Kit Pose and Face Detection deliver real-time, privacy-preserving gesture classification directly on the device with no cloud dependency.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13055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Distinct Gesture Types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2386584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Wave, Eyes-Closed (sustained), and Tummy Rub cover a range of gesture modalities — dynamic oscillation, sustained facial state, and static body position.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79806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Assistant Integration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3054096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WebSocket with auth, heartbeat, entity subscription, and auto-reconnect provides a robust, real-time bridge to the user's smart home ecosystem.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46557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Flutter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4360" y="372160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Dart codebase delivers a full native app on iOS and Android and a web-based smart home dashboard, with platform-conditional entry points.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41330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Architecture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4360" y="43891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Provider-based state, a clean gesture→automation mapping, and decoupled services create a foundation ready for richer gesture vocabularies and more HA entity types.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4773168"/>
            <a:ext cx="8229600" cy="0"/>
          </a:xfrm>
          <a:prstGeom prst="line">
            <a:avLst/>
          </a:prstGeom>
          <a:noFill/>
          <a:ln w="762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HomeGesture  ·  Flutter + Google ML Kit + Home Assistant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HomeGesture: Touchless Smart Home Control via Body Gesture Detection</dc:title>
  <dc:subject>PptxGenJS Presentation</dc:subject>
  <dc:creator>Nilufar Khaydarova</dc:creator>
  <cp:lastModifiedBy>Nilufar Khaydarova</cp:lastModifiedBy>
  <cp:revision>1</cp:revision>
  <dcterms:created xsi:type="dcterms:W3CDTF">2026-05-15T14:28:21Z</dcterms:created>
  <dcterms:modified xsi:type="dcterms:W3CDTF">2026-05-15T14:28:21Z</dcterms:modified>
</cp:coreProperties>
</file>